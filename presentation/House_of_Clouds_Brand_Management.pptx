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3.svg" ContentType="image/svg+xml"/>
  <Override PartName="/ppt/media/image56.svg" ContentType="image/svg+xml"/>
  <Override PartName="/ppt/media/image59.svg" ContentType="image/svg+xml"/>
  <Override PartName="/ppt/media/image6.svg" ContentType="image/svg+xml"/>
  <Override PartName="/ppt/media/image62.svg" ContentType="image/svg+xml"/>
  <Override PartName="/ppt/media/image65.svg" ContentType="image/svg+xml"/>
  <Override PartName="/ppt/media/image68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Instrument Sans Medium" panose="020B0604020202020204" charset="0"/>
      <p:regular r:id="rId16"/>
    </p:embeddedFont>
    <p:embeddedFont>
      <p:font typeface="Instrument Sans Semi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398E9B-BDFC-45E2-AB93-8B1448C3C9B7}" v="165" dt="2025-12-23T07:28:50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30FEC-4F04-459F-9068-7E7A5F1E2FE6}" type="datetimeFigureOut"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B2333-A053-4563-8B9B-1CADA74ED18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6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jpeg"/><Relationship Id="rId7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17.png"/><Relationship Id="rId6" Type="http://schemas.openxmlformats.org/officeDocument/2006/relationships/image" Target="../media/image18.svg"/><Relationship Id="rId7" Type="http://schemas.openxmlformats.org/officeDocument/2006/relationships/image" Target="../media/image19.png"/><Relationship Id="rId8" Type="http://schemas.openxmlformats.org/officeDocument/2006/relationships/image" Target="../media/image20.svg"/><Relationship Id="rId9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6.svg"/><Relationship Id="rId5" Type="http://schemas.openxmlformats.org/officeDocument/2006/relationships/image" Target="../media/image27.png"/><Relationship Id="rId6" Type="http://schemas.openxmlformats.org/officeDocument/2006/relationships/image" Target="../media/image28.svg"/><Relationship Id="rId7" Type="http://schemas.openxmlformats.org/officeDocument/2006/relationships/image" Target="../media/image29.png"/><Relationship Id="rId8" Type="http://schemas.openxmlformats.org/officeDocument/2006/relationships/image" Target="../media/image30.svg"/><Relationship Id="rId9" Type="http://schemas.openxmlformats.org/officeDocument/2006/relationships/image" Target="../media/image31.png"/><Relationship Id="rId10" Type="http://schemas.openxmlformats.org/officeDocument/2006/relationships/image" Target="../media/image32.svg"/><Relationship Id="rId11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34.svg"/><Relationship Id="rId5" Type="http://schemas.openxmlformats.org/officeDocument/2006/relationships/image" Target="../media/image35.png"/><Relationship Id="rId6" Type="http://schemas.openxmlformats.org/officeDocument/2006/relationships/image" Target="../media/image36.svg"/><Relationship Id="rId7" Type="http://schemas.openxmlformats.org/officeDocument/2006/relationships/image" Target="../media/image37.png"/><Relationship Id="rId8" Type="http://schemas.openxmlformats.org/officeDocument/2006/relationships/image" Target="../media/image38.svg"/><Relationship Id="rId9" Type="http://schemas.openxmlformats.org/officeDocument/2006/relationships/image" Target="../media/image39.png"/><Relationship Id="rId10" Type="http://schemas.openxmlformats.org/officeDocument/2006/relationships/image" Target="../media/image40.svg"/><Relationship Id="rId11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42.svg"/><Relationship Id="rId5" Type="http://schemas.openxmlformats.org/officeDocument/2006/relationships/image" Target="../media/image43.png"/><Relationship Id="rId6" Type="http://schemas.openxmlformats.org/officeDocument/2006/relationships/image" Target="../media/image44.svg"/><Relationship Id="rId7" Type="http://schemas.openxmlformats.org/officeDocument/2006/relationships/image" Target="../media/image45.png"/><Relationship Id="rId8" Type="http://schemas.openxmlformats.org/officeDocument/2006/relationships/image" Target="../media/image46.svg"/><Relationship Id="rId9" Type="http://schemas.openxmlformats.org/officeDocument/2006/relationships/image" Target="../media/image47.png"/><Relationship Id="rId10" Type="http://schemas.openxmlformats.org/officeDocument/2006/relationships/image" Target="../media/image48.svg"/><Relationship Id="rId11" Type="http://schemas.openxmlformats.org/officeDocument/2006/relationships/image" Target="../media/image49.png"/><Relationship Id="rId12" Type="http://schemas.openxmlformats.org/officeDocument/2006/relationships/image" Target="../media/image50.svg"/><Relationship Id="rId1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sv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sv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svg"/><Relationship Id="rId15" Type="http://schemas.openxmlformats.org/officeDocument/2006/relationships/image" Target="../media/image63.png"/><Relationship Id="rId16" Type="http://schemas.openxmlformats.org/officeDocument/2006/relationships/image" Target="../media/image64.png"/><Relationship Id="rId17" Type="http://schemas.openxmlformats.org/officeDocument/2006/relationships/image" Target="../media/image65.svg"/><Relationship Id="rId18" Type="http://schemas.openxmlformats.org/officeDocument/2006/relationships/image" Target="../media/image66.png"/><Relationship Id="rId19" Type="http://schemas.openxmlformats.org/officeDocument/2006/relationships/image" Target="../media/image67.png"/><Relationship Id="rId20" Type="http://schemas.openxmlformats.org/officeDocument/2006/relationships/image" Target="../media/image68.svg"/><Relationship Id="rId21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9.jpeg"/><Relationship Id="rId4" Type="http://schemas.openxmlformats.org/officeDocument/2006/relationships/image" Target="../media/image70.jpeg"/><Relationship Id="rId5" Type="http://schemas.openxmlformats.org/officeDocument/2006/relationships/image" Target="../media/image71.jpeg"/><Relationship Id="rId6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" y="1274970"/>
            <a:ext cx="5934587" cy="55599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27908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HOUSE OF CLOUDS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383976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Ece Temiz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Gazi Üniversitesi - Yönetim Bilişim Sistemleri 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280190" y="50758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/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9C11F2-8BBB-083F-2299-8D9063521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4674"/>
            <a:ext cx="852570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MARKA UNSURLARI</a:t>
            </a: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(Brand Elements)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111812"/>
            <a:ext cx="4196358" cy="4913114"/>
          </a:xfrm>
          <a:prstGeom prst="roundRect">
            <a:avLst>
              <a:gd name="adj" fmla="val 4865"/>
            </a:avLst>
          </a:prstGeom>
          <a:solidFill>
            <a:srgbClr val="CEE6FD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20604" y="23386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52567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2458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Marka Adı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736300"/>
            <a:ext cx="374273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House of Clouds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klasik moda evlerini çağrıştıran "House" kelimesi ile soyut, duygusal ve hafif bir kavram olan "Clouds" kelimesinin birleşiminden oluşmaktadır. Bu isim, markanın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lüks ama gürültüsüz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gösterişsiz ama sofistike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duruşunu yansıtır.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111812"/>
            <a:ext cx="4196358" cy="4913114"/>
          </a:xfrm>
          <a:prstGeom prst="roundRect">
            <a:avLst>
              <a:gd name="adj" fmla="val 4865"/>
            </a:avLst>
          </a:prstGeom>
          <a:solidFill>
            <a:srgbClr val="CEE6FD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43776" y="23386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252567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2458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Logo &amp; Sembol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73630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Logo tipografisi serif ve zarif bir yapıdadır.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443776" y="454140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"Clouds" kelimesi italic formda kullanılarak akışkanlık ve yumuşaklık vurgulanır.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5443776" y="570940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Bulut sembolü, markanın hafiflik, sakinlik ve zamansızlık değerlerini temsil eder.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640133" y="2111812"/>
            <a:ext cx="4196358" cy="4913114"/>
          </a:xfrm>
          <a:prstGeom prst="roundRect">
            <a:avLst>
              <a:gd name="adj" fmla="val 4865"/>
            </a:avLst>
          </a:prstGeom>
          <a:solidFill>
            <a:srgbClr val="CEE6FD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9866948" y="23386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2525673"/>
            <a:ext cx="306110" cy="3061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66948" y="32458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Slogan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866948" y="3736300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"Luxury in its calmest form."</a:t>
            </a:r>
            <a:r>
              <a:rPr lang="en-US" sz="175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 Bu slogan, House of Clouds'un yüksek sesli bir lüks anlayışı yerine sakin ve dengeli bir lüks </a:t>
            </a:r>
            <a:r>
              <a:rPr lang="en-US" sz="1750" dirty="0" err="1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sunduğunu</a:t>
            </a:r>
            <a:r>
              <a:rPr lang="en-US" sz="175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ifade</a:t>
            </a:r>
            <a:r>
              <a:rPr lang="en-US" sz="175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eder</a:t>
            </a:r>
            <a:r>
              <a:rPr lang="en-US" sz="175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>
              <a:latin typeface="Instrument Sans Medium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96E037-A0B2-18D7-B45F-C90232F74D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276" y="539710"/>
            <a:ext cx="2941320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 Bold"/>
                <a:ea typeface="Instrument Sans Semi Bold" pitchFamily="34" charset="-122"/>
                <a:cs typeface="Instrument Sans Semi Bold" pitchFamily="34" charset="-120"/>
              </a:rPr>
              <a:t>Renkler</a:t>
            </a:r>
            <a:endParaRPr lang="en-US" sz="3200" dirty="0">
              <a:latin typeface="Instrument Sans Semi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6276" y="1299329"/>
            <a:ext cx="1325784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Marka yalnızca </a:t>
            </a:r>
            <a:r>
              <a:rPr lang="en-US" sz="1500" b="1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mavi ve tonlarını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kullanır: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6276" y="1833563"/>
            <a:ext cx="4288631" cy="1175385"/>
          </a:xfrm>
          <a:prstGeom prst="roundRect">
            <a:avLst>
              <a:gd name="adj" fmla="val 9335"/>
            </a:avLst>
          </a:prstGeom>
          <a:solidFill>
            <a:srgbClr val="FFFFFF"/>
          </a:solidFill>
          <a:ln w="22860">
            <a:solidFill>
              <a:srgbClr val="0540AD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63416" y="1833563"/>
            <a:ext cx="91440" cy="1175385"/>
          </a:xfrm>
          <a:prstGeom prst="roundRect">
            <a:avLst>
              <a:gd name="adj" fmla="val 193006"/>
            </a:avLst>
          </a:prstGeom>
          <a:solidFill>
            <a:srgbClr val="0540A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73693" y="2052399"/>
            <a:ext cx="2451140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Deep blue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73693" y="2476381"/>
            <a:ext cx="378237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Asalet ve güven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70884" y="1833563"/>
            <a:ext cx="4288631" cy="1175385"/>
          </a:xfrm>
          <a:prstGeom prst="roundRect">
            <a:avLst>
              <a:gd name="adj" fmla="val 9335"/>
            </a:avLst>
          </a:prstGeom>
          <a:solidFill>
            <a:srgbClr val="FFFFFF"/>
          </a:solidFill>
          <a:ln w="22860">
            <a:solidFill>
              <a:srgbClr val="84C1F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148024" y="1833563"/>
            <a:ext cx="91440" cy="1175385"/>
          </a:xfrm>
          <a:prstGeom prst="roundRect">
            <a:avLst>
              <a:gd name="adj" fmla="val 193006"/>
            </a:avLst>
          </a:prstGeom>
          <a:solidFill>
            <a:srgbClr val="84C1F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58301" y="2052399"/>
            <a:ext cx="2451140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Soft blue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58301" y="2476381"/>
            <a:ext cx="378237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Sakinlik ve dinginlik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55493" y="1833563"/>
            <a:ext cx="4288631" cy="1175385"/>
          </a:xfrm>
          <a:prstGeom prst="roundRect">
            <a:avLst>
              <a:gd name="adj" fmla="val 9335"/>
            </a:avLst>
          </a:prstGeom>
          <a:solidFill>
            <a:srgbClr val="FFFFFF"/>
          </a:solidFill>
          <a:ln w="22860">
            <a:solidFill>
              <a:srgbClr val="CDDAF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632633" y="1833563"/>
            <a:ext cx="91440" cy="1175385"/>
          </a:xfrm>
          <a:prstGeom prst="roundRect">
            <a:avLst>
              <a:gd name="adj" fmla="val 193006"/>
            </a:avLst>
          </a:prstGeom>
          <a:solidFill>
            <a:srgbClr val="CDDA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942909" y="2052399"/>
            <a:ext cx="2451140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Dusty blue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942909" y="2476381"/>
            <a:ext cx="378237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Zamansızlık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6276" y="3229451"/>
            <a:ext cx="1325784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 sınırlı palet, markanın ayırt edici kimliğini güçlendirir.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6276" y="3837265"/>
            <a:ext cx="2941320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 Bold"/>
                <a:ea typeface="Instrument Sans Semi Bold" pitchFamily="34" charset="-122"/>
                <a:cs typeface="Instrument Sans Semi Bold" pitchFamily="34" charset="-120"/>
              </a:rPr>
              <a:t>Ambalaj</a:t>
            </a:r>
            <a:endParaRPr lang="en-US" sz="3200" dirty="0">
              <a:latin typeface="Instrument Sans Semi Bol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276" y="4675346"/>
            <a:ext cx="638972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Kadife dokulu alışveriş çantaları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6276" y="5057656"/>
            <a:ext cx="638972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Metal saplar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6276" y="5439966"/>
            <a:ext cx="638972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Minimal logo baskısı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6276" y="5930146"/>
            <a:ext cx="638972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Ambalaj, üründen önce "lüks" algısını yaratmayı hedefler.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62017" y="4675346"/>
            <a:ext cx="638972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060" y="6714411"/>
            <a:ext cx="2941320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 Bold"/>
                <a:ea typeface="Instrument Sans Semi Bold" pitchFamily="34" charset="-122"/>
                <a:cs typeface="Instrument Sans Semi Bold" pitchFamily="34" charset="-120"/>
              </a:rPr>
              <a:t>Maskot</a:t>
            </a:r>
            <a:endParaRPr lang="en-US" sz="3200" dirty="0">
              <a:latin typeface="Instrument Sans Semi Bol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6276" y="7376041"/>
            <a:ext cx="1325784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House of Clouds'ta klasik anlamda bir maskot yoktur. Bunun yerine </a:t>
            </a:r>
            <a:r>
              <a:rPr lang="en-US" sz="1500" b="1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bulut sembolü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markanın soyut maskotu olarak kullanılır.</a:t>
            </a:r>
            <a:endParaRPr lang="en-US" sz="15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35A5FC0-A34C-60E9-69C9-C04AAD854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20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4991189"/>
            <a:ext cx="4221599" cy="272188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241" y="4991189"/>
            <a:ext cx="4221599" cy="272188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578" y="4991189"/>
            <a:ext cx="4221599" cy="2721888"/>
          </a:xfrm>
          <a:prstGeom prst="rect">
            <a:avLst/>
          </a:prstGeom>
        </p:spPr>
      </p:pic>
      <p:pic>
        <p:nvPicPr>
          <p:cNvPr id="6" name="Picture 5" descr="A blue and white text with diamonds&#10;&#10;AI-generated content may be incorrect.">
            <a:extLst>
              <a:ext uri="{FF2B5EF4-FFF2-40B4-BE49-F238E27FC236}">
                <a16:creationId xmlns:a16="http://schemas.microsoft.com/office/drawing/2014/main" id="{8BB3F3BA-CB10-208E-20AC-2CD954866F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9631" y="17251"/>
            <a:ext cx="7556739" cy="45892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F107F0-1388-9CD7-945F-3CC09AD563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92E957-A2F2-5988-CEDF-A3E914B016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56948" y="79357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4442"/>
            <a:ext cx="1061989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MARKA KONUMLANDIRMA</a:t>
            </a: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(Brand Positioning)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253383"/>
            <a:ext cx="226814" cy="2268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3580090"/>
            <a:ext cx="4196358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93790" y="37543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Rekabet Çerçevesi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244816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House of Clouds,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lüks ve premium giyim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pazarında konumlanmaktadır. Hedef, hızlı moda veya trend odaklı markalar değildir.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6962" y="3253383"/>
            <a:ext cx="226814" cy="22681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16962" y="3580090"/>
            <a:ext cx="4196358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216962" y="37543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Hedef Pazar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4244816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Orta-üst ve üst gelir grubu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216962" y="4687014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Estetik duyarlılığı yüksek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216962" y="512921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Gösterişten uzak ama kaliteye önem veren tüketiciler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40133" y="3253383"/>
            <a:ext cx="226814" cy="22681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640133" y="3580090"/>
            <a:ext cx="4196358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9640133" y="3754398"/>
            <a:ext cx="30822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Konumlandırma İfadesi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640133" y="4244816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"Sakin, rafine ve zamansız lüksün moda evi."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C783C3-BA3A-A92B-A964-5C8A38523F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4670"/>
            <a:ext cx="867656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 BENZERLİK VE FARKLILIK NOKTALARI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258622"/>
            <a:ext cx="57528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Benzerlik Noktaları (Points of Parity)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107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Yüksek kalite standartları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529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Premium fiyatlandırma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951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Sınırlı üretim anlayışı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373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Lüks mağaza deneyimi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258622"/>
            <a:ext cx="62447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Farklılık Noktaları (Points of Difference)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43360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Sadece mavi ve tonlarından oluşan koleksiyonlar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7782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Duygusal ve huzur odaklı marka dili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2204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Pinterest merkezli görsel anlatım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6626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"Sessiz lüks" (quiet luxury) yaklaşımı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8F273A-3A7F-04DA-089C-A7BE8A536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18" y="411361"/>
            <a:ext cx="7040523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4. ÇİFT KONUMLANDIRMA VE MARKA MANTRASI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23518" y="845106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Çift Konumlandırma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523518" y="1349931"/>
            <a:ext cx="13583364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House of Clouds iki boyutta konumlanır: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18" y="1757601"/>
            <a:ext cx="6791682" cy="598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3060" y="2505551"/>
            <a:ext cx="1869996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Fonksiyonel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73060" y="2828925"/>
            <a:ext cx="6492597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Kaliteli kumaş, zamansız tasarım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57601"/>
            <a:ext cx="6791682" cy="5984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64743" y="2505551"/>
            <a:ext cx="1869996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Duygusal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464743" y="2828925"/>
            <a:ext cx="6492597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Sakinlik, huzur, dinginlik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23518" y="3460925"/>
            <a:ext cx="13583364" cy="26313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523518" y="3711535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Marka Mantrası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23518" y="4216360"/>
            <a:ext cx="7480340" cy="934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585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Calm – Blue – Luxury</a:t>
            </a:r>
            <a:endParaRPr lang="en-US" sz="5850" dirty="0"/>
          </a:p>
        </p:txBody>
      </p:sp>
      <p:sp>
        <p:nvSpPr>
          <p:cNvPr id="14" name="Text 10"/>
          <p:cNvSpPr/>
          <p:nvPr/>
        </p:nvSpPr>
        <p:spPr>
          <a:xfrm>
            <a:off x="523518" y="5375672"/>
            <a:ext cx="13583364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 üç kelime, markanın tüm tasarım, iletişim ve deneyim süreçlerinde temel referans noktasıdır.</a:t>
            </a:r>
            <a:endParaRPr lang="en-US" sz="11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067" y="5882164"/>
            <a:ext cx="1198245" cy="1795224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4969" y="5882164"/>
            <a:ext cx="1198245" cy="17952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BC636E-7DBC-C8B8-C5A2-43D3B9665F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164" y="434697"/>
            <a:ext cx="476392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5. MARKA REZONANS PİRAMİDİ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53164" y="1145858"/>
            <a:ext cx="1690449" cy="1526977"/>
          </a:xfrm>
          <a:prstGeom prst="roundRect">
            <a:avLst>
              <a:gd name="adj" fmla="val 9317"/>
            </a:avLst>
          </a:prstGeom>
          <a:solidFill>
            <a:srgbClr val="CEE6FD"/>
          </a:solidFill>
          <a:ln/>
        </p:spPr>
        <p:txBody>
          <a:bodyPr/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7185" y="1798201"/>
            <a:ext cx="222290" cy="2222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61269" y="1303853"/>
            <a:ext cx="2371773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/>
                <a:ea typeface="Instrument Sans Semi Bold" pitchFamily="34" charset="-122"/>
                <a:cs typeface="Instrument Sans Semi Bold" pitchFamily="34" charset="-120"/>
              </a:rPr>
              <a:t>Marka Bilinirliği</a:t>
            </a:r>
            <a:endParaRPr lang="en-US" sz="2400" dirty="0">
              <a:latin typeface="Instrument Sans Semi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2401610" y="1645682"/>
            <a:ext cx="1551503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Sosyal medya</a:t>
            </a:r>
            <a:endParaRPr lang="en-US" sz="1400" dirty="0">
              <a:latin typeface="Instrument Sans Medium"/>
            </a:endParaRPr>
          </a:p>
        </p:txBody>
      </p:sp>
      <p:sp>
        <p:nvSpPr>
          <p:cNvPr id="7" name="Text 4"/>
          <p:cNvSpPr/>
          <p:nvPr/>
        </p:nvSpPr>
        <p:spPr>
          <a:xfrm>
            <a:off x="2401610" y="1953816"/>
            <a:ext cx="1551503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Dijital vitrinler</a:t>
            </a:r>
            <a:endParaRPr lang="en-US" sz="1400" dirty="0">
              <a:latin typeface="Instrument Sans Medium"/>
            </a:endParaRPr>
          </a:p>
        </p:txBody>
      </p:sp>
      <p:sp>
        <p:nvSpPr>
          <p:cNvPr id="8" name="Text 5"/>
          <p:cNvSpPr/>
          <p:nvPr/>
        </p:nvSpPr>
        <p:spPr>
          <a:xfrm>
            <a:off x="2374716" y="2221608"/>
            <a:ext cx="1712867" cy="37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Pinterest </a:t>
            </a:r>
            <a:r>
              <a:rPr lang="en-US" sz="1400" dirty="0" err="1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Panolar</a:t>
            </a:r>
            <a:endParaRPr lang="en-US" sz="1200" dirty="0" err="1">
              <a:solidFill>
                <a:srgbClr val="1E3063"/>
              </a:solidFill>
              <a:latin typeface="Instrument Sans Medium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134293" y="2676756"/>
            <a:ext cx="11675745" cy="11430"/>
          </a:xfrm>
          <a:prstGeom prst="roundRect">
            <a:avLst>
              <a:gd name="adj" fmla="val 1244672"/>
            </a:avLst>
          </a:prstGeom>
          <a:solidFill>
            <a:srgbClr val="B4CCE3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53164" y="2751773"/>
            <a:ext cx="3381018" cy="1526977"/>
          </a:xfrm>
          <a:prstGeom prst="roundRect">
            <a:avLst>
              <a:gd name="adj" fmla="val 9317"/>
            </a:avLst>
          </a:prstGeom>
          <a:solidFill>
            <a:srgbClr val="CEE6FD"/>
          </a:solidFill>
          <a:ln/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32528" y="3404116"/>
            <a:ext cx="222290" cy="2222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5284" y="2909768"/>
            <a:ext cx="2701983" cy="12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/>
                <a:ea typeface="Instrument Sans Semi Bold" pitchFamily="34" charset="-122"/>
                <a:cs typeface="Instrument Sans Semi Bold" pitchFamily="34" charset="-120"/>
              </a:rPr>
              <a:t>Performans &amp; İmaj</a:t>
            </a:r>
            <a:endParaRPr lang="en-US" sz="2400" dirty="0">
              <a:latin typeface="Instrument Sans Semi Bold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078731" y="3251597"/>
            <a:ext cx="3007007" cy="13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Yüksek kaliteli malzemeler</a:t>
            </a:r>
            <a:endParaRPr lang="en-US" sz="1400">
              <a:latin typeface="Instrument Sans Medium"/>
              <a:ea typeface="Calibri"/>
              <a:cs typeface="Calibr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092178" y="3559731"/>
            <a:ext cx="2711172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Minimalist ve zamansız tasarımlar</a:t>
            </a:r>
            <a:endParaRPr lang="en-US" sz="1400" dirty="0">
              <a:latin typeface="Instrument Sans Medium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092178" y="4029229"/>
            <a:ext cx="2711172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Tutarlı renk dili</a:t>
            </a:r>
            <a:endParaRPr lang="en-US" sz="1400" dirty="0">
              <a:latin typeface="Instrument Sans Medium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013121" y="4269224"/>
            <a:ext cx="9985177" cy="11430"/>
          </a:xfrm>
          <a:prstGeom prst="roundRect">
            <a:avLst>
              <a:gd name="adj" fmla="val 1244672"/>
            </a:avLst>
          </a:prstGeom>
          <a:solidFill>
            <a:srgbClr val="B4CCE3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53164" y="4357688"/>
            <a:ext cx="5071467" cy="1835110"/>
          </a:xfrm>
          <a:prstGeom prst="roundRect">
            <a:avLst>
              <a:gd name="adj" fmla="val 7752"/>
            </a:avLst>
          </a:prstGeom>
          <a:solidFill>
            <a:srgbClr val="CEE6FD"/>
          </a:solidFill>
          <a:ln/>
        </p:spPr>
        <p:txBody>
          <a:bodyPr/>
          <a:p/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77753" y="5164098"/>
            <a:ext cx="222290" cy="2222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20846" y="4354319"/>
            <a:ext cx="1886141" cy="12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/>
                <a:ea typeface="Instrument Sans Semi Bold" pitchFamily="34" charset="-122"/>
                <a:cs typeface="Instrument Sans Semi Bold" pitchFamily="34" charset="-120"/>
              </a:rPr>
              <a:t>Yargı &amp; Duygu</a:t>
            </a:r>
            <a:endParaRPr lang="en-US" sz="2400" dirty="0">
              <a:latin typeface="Instrument Sans Semi Bold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5782628" y="4857512"/>
            <a:ext cx="1313736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Güven</a:t>
            </a:r>
            <a:endParaRPr lang="en-US" sz="1400" dirty="0">
              <a:latin typeface="Instrument Sans Medium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782628" y="5165646"/>
            <a:ext cx="1313736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Zarafet</a:t>
            </a:r>
            <a:endParaRPr lang="en-US" sz="1400" dirty="0">
              <a:latin typeface="Instrument Sans Medium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5782628" y="5473779"/>
            <a:ext cx="1313736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Huzur</a:t>
            </a:r>
            <a:endParaRPr lang="en-US" sz="1400" dirty="0">
              <a:latin typeface="Instrument Sans Medium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782628" y="5728125"/>
            <a:ext cx="1528888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Aidiyet hissi</a:t>
            </a:r>
            <a:endParaRPr lang="en-US" sz="1400" dirty="0">
              <a:latin typeface="Instrument Sans Medium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703570" y="6183273"/>
            <a:ext cx="8294727" cy="11430"/>
          </a:xfrm>
          <a:prstGeom prst="roundRect">
            <a:avLst>
              <a:gd name="adj" fmla="val 1244672"/>
            </a:avLst>
          </a:prstGeom>
          <a:solidFill>
            <a:srgbClr val="B4CCE3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553164" y="6271736"/>
            <a:ext cx="6762036" cy="1526977"/>
          </a:xfrm>
          <a:prstGeom prst="roundRect">
            <a:avLst>
              <a:gd name="adj" fmla="val 9317"/>
            </a:avLst>
          </a:prstGeom>
          <a:solidFill>
            <a:srgbClr val="CEE6FD"/>
          </a:solidFill>
          <a:ln/>
        </p:spPr>
        <p:txBody>
          <a:bodyPr/>
          <a:p/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22978" y="6924080"/>
            <a:ext cx="222290" cy="22229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73196" y="6429732"/>
            <a:ext cx="1975842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/>
                <a:ea typeface="Instrument Sans Semi Bold" pitchFamily="34" charset="-122"/>
                <a:cs typeface="Instrument Sans Semi Bold" pitchFamily="34" charset="-120"/>
              </a:rPr>
              <a:t>Rezonans</a:t>
            </a:r>
            <a:endParaRPr lang="en-US" sz="2400" dirty="0">
              <a:latin typeface="Instrument Sans Semi Bold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473196" y="6771561"/>
            <a:ext cx="2427446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Sadık müşteri kitlesi</a:t>
            </a:r>
            <a:endParaRPr lang="en-US" sz="1400" dirty="0">
              <a:latin typeface="Instrument Sans Medium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7473196" y="7079694"/>
            <a:ext cx="2427446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Tekrar satın alma</a:t>
            </a:r>
            <a:endParaRPr lang="en-US" sz="1400" dirty="0">
              <a:latin typeface="Instrument Sans Medium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7473196" y="7387828"/>
            <a:ext cx="2427446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Markayla duygusal bağ kurma</a:t>
            </a:r>
            <a:endParaRPr lang="en-US" sz="1200" dirty="0">
              <a:latin typeface="Instrument Sans Medium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A836F9D-BFFE-849F-4A82-0DBD107729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9991"/>
            <a:ext cx="547163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6. MARKA DEĞER ZİNCİRİ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900595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CEE6FD"/>
          </a:solidFill>
          <a:ln/>
        </p:spPr>
        <p:txBody>
          <a:bodyPr/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7621" y="2070616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2807851"/>
            <a:ext cx="41162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Pazarlama Programı Yatırımları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29826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Görsel ağırlıklı dijital içerikler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604" y="374046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Lüks algıyı güçlendiren fotoğraf ve video prodüksiyonları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00595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CEE6FD"/>
          </a:solidFill>
          <a:ln/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2498" y="2070616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55362" y="28078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Tüketici Zihin Seti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655362" y="329826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"Bu marka beni yansıtıyor."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655362" y="374046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"Bu marka benim yaşam tarzım."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919901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CEE6FD"/>
          </a:solidFill>
          <a:ln/>
        </p:spPr>
        <p:txBody>
          <a:bodyPr/>
          <a:p/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27621" y="5089922"/>
            <a:ext cx="340162" cy="3401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0604" y="5827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Pazar Performansı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1020604" y="6317575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Düşük hacimli ancak yüksek kâr marjlı satış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1020604" y="675977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Seçici müşteri profili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919901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CEE6FD"/>
          </a:solidFill>
          <a:ln/>
        </p:spPr>
        <p:txBody>
          <a:bodyPr/>
          <a:p/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2498" y="5089922"/>
            <a:ext cx="340162" cy="3401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55362" y="5827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Hissedar Algısı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655362" y="6317575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Uzun vadeli marka değeri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7655362" y="6759773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Güçlü ve sürdürülebilir lüks algısı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5E5EF8-735E-5325-0837-5FEE69C419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330" y="706160"/>
            <a:ext cx="7837408" cy="52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7. MARKA PAZARLAMA PROGRAMLARI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330" y="1651516"/>
            <a:ext cx="525185" cy="5251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5330" y="2439233"/>
            <a:ext cx="4211479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Sensory Experience(Duyusal Deneyim)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35330" y="3221712"/>
            <a:ext cx="4211479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Kadife ambalaj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35330" y="3631406"/>
            <a:ext cx="4211479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Soğuk metal detaylar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35330" y="4041100"/>
            <a:ext cx="4211479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Mat ve yumuşak yüzeyler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9342" y="1651516"/>
            <a:ext cx="525185" cy="5251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09342" y="2439233"/>
            <a:ext cx="4211598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Affective Experience(Duygusal Deneyim)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5209342" y="3221712"/>
            <a:ext cx="421159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Sakinlik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5209342" y="3631406"/>
            <a:ext cx="421159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İçsel huzur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5209342" y="4041100"/>
            <a:ext cx="421159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Zarif bir yaşam hissi</a:t>
            </a:r>
            <a:endParaRPr lang="en-US" sz="16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83472" y="1651516"/>
            <a:ext cx="525185" cy="5251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83472" y="2439233"/>
            <a:ext cx="4211479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Behavioral Experience(Davranışsal Deneyim)</a:t>
            </a:r>
            <a:endParaRPr lang="en-US" sz="2050" dirty="0"/>
          </a:p>
        </p:txBody>
      </p:sp>
      <p:sp>
        <p:nvSpPr>
          <p:cNvPr id="15" name="Text 10"/>
          <p:cNvSpPr/>
          <p:nvPr/>
        </p:nvSpPr>
        <p:spPr>
          <a:xfrm>
            <a:off x="9683472" y="3221712"/>
            <a:ext cx="4211479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Pinterest'te kombin panoları oluşturma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9683472" y="3631406"/>
            <a:ext cx="4211479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Ürünleri yaşam tarzına dahil etme</a:t>
            </a:r>
            <a:endParaRPr lang="en-US" sz="16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5330" y="4797504"/>
            <a:ext cx="525185" cy="52518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330" y="5585222"/>
            <a:ext cx="4211479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Intellectual Experience(Zihinsel Deneyim)</a:t>
            </a:r>
            <a:endParaRPr lang="en-US" sz="2050" dirty="0"/>
          </a:p>
        </p:txBody>
      </p:sp>
      <p:sp>
        <p:nvSpPr>
          <p:cNvPr id="19" name="Text 13"/>
          <p:cNvSpPr/>
          <p:nvPr/>
        </p:nvSpPr>
        <p:spPr>
          <a:xfrm>
            <a:off x="735330" y="6367701"/>
            <a:ext cx="4211479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Renk psikolojisi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735330" y="6777395"/>
            <a:ext cx="4211479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Minimalist tasarım felsefesi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735330" y="7187089"/>
            <a:ext cx="4211479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Zamansız moda anlayışı</a:t>
            </a:r>
            <a:endParaRPr lang="en-US" sz="16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09342" y="4797504"/>
            <a:ext cx="525185" cy="52518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09342" y="5585222"/>
            <a:ext cx="2626162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Kişiselleştirme</a:t>
            </a:r>
            <a:endParaRPr lang="en-US" sz="2050" dirty="0"/>
          </a:p>
        </p:txBody>
      </p:sp>
      <p:sp>
        <p:nvSpPr>
          <p:cNvPr id="24" name="Text 17"/>
          <p:cNvSpPr/>
          <p:nvPr/>
        </p:nvSpPr>
        <p:spPr>
          <a:xfrm>
            <a:off x="5209342" y="6039445"/>
            <a:ext cx="421159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Sınırlı sayıda koleksiyon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5209342" y="6449139"/>
            <a:ext cx="421159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Kişiye özel ambalaj detayları</a:t>
            </a:r>
            <a:endParaRPr lang="en-US" sz="16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C24774C-3618-E520-221E-45A62DBA0D7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0697"/>
            <a:ext cx="997696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8. ENTEGRE PAZARLAMA İLETİŞİMİ</a:t>
            </a: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(IMC – 6C)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970603" y="19929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Coverage-Kapsama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483406"/>
            <a:ext cx="40120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Niş ama doğru hedef kitle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831300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6508" y="2560320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24442" y="19929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Contribution-Katkı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824442" y="2483406"/>
            <a:ext cx="4012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Lüks algıyı güçlendiren içerik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831300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4326" y="2560320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3509843"/>
            <a:ext cx="30147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Commonality-Ortaklık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51256" y="4000262"/>
            <a:ext cx="37853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Tüm kanallarda tutarlı mavi dil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831300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43117" y="3943945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824442" y="5026819"/>
            <a:ext cx="40121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Conformability-Uyum Sağlayabilirlik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824442" y="5871567"/>
            <a:ext cx="4012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Dijital trendlere uyum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831300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44326" y="5327571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970603" y="52039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Cost-Maliyet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793790" y="5694402"/>
            <a:ext cx="40120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Kontrollü ve stratejik bütçe</a:t>
            </a:r>
            <a:endParaRPr lang="en-US" sz="17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32653" y="1831300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46508" y="5327571"/>
            <a:ext cx="339328" cy="33932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1677353" y="3509843"/>
            <a:ext cx="29016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Consistency-Tutarlılık</a:t>
            </a:r>
            <a:endParaRPr lang="en-US" sz="2200" dirty="0"/>
          </a:p>
        </p:txBody>
      </p:sp>
      <p:sp>
        <p:nvSpPr>
          <p:cNvPr id="24" name="Text 12"/>
          <p:cNvSpPr/>
          <p:nvPr/>
        </p:nvSpPr>
        <p:spPr>
          <a:xfrm>
            <a:off x="793790" y="4000262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Tek ses, tek kimlik</a:t>
            </a:r>
            <a:endParaRPr lang="en-US" sz="175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32653" y="1831300"/>
            <a:ext cx="4564975" cy="4564975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7717" y="3943945"/>
            <a:ext cx="339328" cy="339328"/>
          </a:xfrm>
          <a:prstGeom prst="rect">
            <a:avLst/>
          </a:prstGeom>
        </p:spPr>
      </p:pic>
      <p:sp>
        <p:nvSpPr>
          <p:cNvPr id="27" name="Shape 13"/>
          <p:cNvSpPr/>
          <p:nvPr/>
        </p:nvSpPr>
        <p:spPr>
          <a:xfrm>
            <a:off x="793790" y="6764807"/>
            <a:ext cx="13042821" cy="35957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  <p:txBody>
          <a:bodyPr/>
          <a:p/>
        </p:txBody>
      </p:sp>
      <p:sp>
        <p:nvSpPr>
          <p:cNvPr id="28" name="Text 14"/>
          <p:cNvSpPr/>
          <p:nvPr/>
        </p:nvSpPr>
        <p:spPr>
          <a:xfrm>
            <a:off x="793790" y="70558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8D6E9A0-19FC-8647-465C-69EA2464A07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205" y="390644"/>
            <a:ext cx="9491424" cy="443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9. İKİNCİL MARKA ÇAĞRIŞIMLARI &amp; MARKA UZANTILARI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7205" y="891302"/>
            <a:ext cx="4173260" cy="443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İkincil Marka Çağrışımları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7205" y="1548170"/>
            <a:ext cx="13635990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Avrupa estetiği</a:t>
            </a:r>
            <a:endParaRPr lang="en-US" sz="1400" dirty="0">
              <a:latin typeface="Instrument Sans Medium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7205" y="1824990"/>
            <a:ext cx="13635990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Sanat ve moda birlikteliği</a:t>
            </a:r>
            <a:endParaRPr lang="en-US" sz="1400" dirty="0">
              <a:latin typeface="Instrument Sans Medium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7205" y="2101810"/>
            <a:ext cx="13635990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Niş influencer iş birlikleri</a:t>
            </a:r>
            <a:endParaRPr lang="en-US" sz="1400" dirty="0">
              <a:latin typeface="Instrument Sans Medium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7205" y="2541984"/>
            <a:ext cx="3551873" cy="443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Marka Uzantıları</a:t>
            </a:r>
            <a:endParaRPr lang="en-US" sz="2750" dirty="0"/>
          </a:p>
        </p:txBody>
      </p:sp>
      <p:sp>
        <p:nvSpPr>
          <p:cNvPr id="11" name="Text 6"/>
          <p:cNvSpPr/>
          <p:nvPr/>
        </p:nvSpPr>
        <p:spPr>
          <a:xfrm>
            <a:off x="497205" y="3252219"/>
            <a:ext cx="3551873" cy="443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Hat Uzantısı:</a:t>
            </a:r>
            <a:endParaRPr lang="en-US" sz="2750" dirty="0"/>
          </a:p>
        </p:txBody>
      </p:sp>
      <p:sp>
        <p:nvSpPr>
          <p:cNvPr id="12" name="Text 7"/>
          <p:cNvSpPr/>
          <p:nvPr/>
        </p:nvSpPr>
        <p:spPr>
          <a:xfrm>
            <a:off x="497206" y="3891834"/>
            <a:ext cx="13635990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Çanta</a:t>
            </a:r>
            <a:endParaRPr lang="en-US" sz="1400" dirty="0">
              <a:latin typeface="Instrument Sans Medium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97206" y="4116896"/>
            <a:ext cx="13635990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Parfüm</a:t>
            </a:r>
            <a:endParaRPr lang="en-US" sz="1400" dirty="0">
              <a:latin typeface="Instrument Sans Medium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97205" y="4341957"/>
            <a:ext cx="13635990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Saat</a:t>
            </a:r>
            <a:endParaRPr lang="en-US" sz="1400" dirty="0">
              <a:latin typeface="Instrument Sans Medium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97205" y="6955988"/>
            <a:ext cx="3551873" cy="443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Kategori Uzantısı:</a:t>
            </a:r>
            <a:endParaRPr lang="en-US" sz="2750" dirty="0"/>
          </a:p>
        </p:txBody>
      </p:sp>
      <p:sp>
        <p:nvSpPr>
          <p:cNvPr id="16" name="Text 11"/>
          <p:cNvSpPr/>
          <p:nvPr/>
        </p:nvSpPr>
        <p:spPr>
          <a:xfrm>
            <a:off x="497205" y="7612856"/>
            <a:ext cx="13635990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/>
                <a:ea typeface="Instrument Sans Medium" pitchFamily="34" charset="-122"/>
                <a:cs typeface="Instrument Sans Medium" pitchFamily="34" charset="-120"/>
              </a:rPr>
              <a:t>Home textile (gelecek planı)</a:t>
            </a:r>
            <a:endParaRPr lang="en-US" sz="1400" dirty="0">
              <a:latin typeface="Instrument Sans Medium"/>
            </a:endParaRPr>
          </a:p>
        </p:txBody>
      </p:sp>
      <p:pic>
        <p:nvPicPr>
          <p:cNvPr id="17" name="Picture 16" descr="A watch with a chain and a heart on it&#10;&#10;AI-generated content may be incorrect.">
            <a:extLst>
              <a:ext uri="{FF2B5EF4-FFF2-40B4-BE49-F238E27FC236}">
                <a16:creationId xmlns:a16="http://schemas.microsoft.com/office/drawing/2014/main" id="{09A024DF-ED48-AC0A-FF15-27E656946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04" y="4779031"/>
            <a:ext cx="2553421" cy="2173858"/>
          </a:xfrm>
          <a:prstGeom prst="rect">
            <a:avLst/>
          </a:prstGeom>
        </p:spPr>
      </p:pic>
      <p:pic>
        <p:nvPicPr>
          <p:cNvPr id="18" name="Picture 17" descr="A blue bottle of perfume&#10;&#10;AI-generated content may be incorrect.">
            <a:extLst>
              <a:ext uri="{FF2B5EF4-FFF2-40B4-BE49-F238E27FC236}">
                <a16:creationId xmlns:a16="http://schemas.microsoft.com/office/drawing/2014/main" id="{21D3D601-3D4D-DB5A-C9D5-86A24B67D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872" y="2107176"/>
            <a:ext cx="4008020" cy="3946003"/>
          </a:xfrm>
          <a:prstGeom prst="rect">
            <a:avLst/>
          </a:prstGeom>
        </p:spPr>
      </p:pic>
      <p:pic>
        <p:nvPicPr>
          <p:cNvPr id="19" name="Picture 18" descr="A blue bottle of perfume&#10;&#10;AI-generated content may be incorrect.">
            <a:extLst>
              <a:ext uri="{FF2B5EF4-FFF2-40B4-BE49-F238E27FC236}">
                <a16:creationId xmlns:a16="http://schemas.microsoft.com/office/drawing/2014/main" id="{3136299C-ED93-EEAB-A62B-D37D6EFC7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688" y="2104845"/>
            <a:ext cx="4401570" cy="39336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CCACED-3C6F-FDAE-65CE-E496927DE4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426744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Teşekkürler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618458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8CE104-3918-C167-6939-C068B2665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4548" y="7783342"/>
            <a:ext cx="1924050" cy="447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92</cp:revision>
  <dcterms:created xsi:type="dcterms:W3CDTF">2025-12-23T07:11:52Z</dcterms:created>
  <dcterms:modified xsi:type="dcterms:W3CDTF">2025-12-23T07:29:24Z</dcterms:modified>
  <cp:keywords>House of Clouds, Brand Management, academic case study</cp:keywords>
</cp:coreProperties>
</file>